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339d3fb4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339d3fb4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339d3fb4c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339d3fb4c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4393cf9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4393cf9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339d3fb4c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339d3fb4c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339d3fb4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339d3fb4c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339d3fb4c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339d3fb4c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339d3fb4c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339d3fb4c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339d3fb4c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339d3fb4c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339d3fb4c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339d3fb4c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339d3fb4c_1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339d3fb4c_1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339d3fb4c_1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339d3fb4c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339d3fb4c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339d3fb4c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Tile Titan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Lance &amp;&amp; Jessie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Tile Titan</a:t>
            </a:r>
            <a:endParaRPr/>
          </a:p>
        </p:txBody>
      </p:sp>
      <p:sp>
        <p:nvSpPr>
          <p:cNvPr id="61" name="Google Shape;61;p14"/>
          <p:cNvSpPr txBox="1"/>
          <p:nvPr>
            <p:ph idx="1" type="body"/>
          </p:nvPr>
        </p:nvSpPr>
        <p:spPr>
          <a:xfrm>
            <a:off x="74025" y="1254050"/>
            <a:ext cx="3366600" cy="117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Board Oriented</a:t>
            </a:r>
            <a:endParaRPr/>
          </a:p>
          <a:p>
            <a:pPr indent="-342900" lvl="0" marL="457200" rtl="0" algn="l">
              <a:spcBef>
                <a:spcPts val="0"/>
              </a:spcBef>
              <a:spcAft>
                <a:spcPts val="0"/>
              </a:spcAft>
              <a:buSzPts val="1800"/>
              <a:buChar char="●"/>
            </a:pPr>
            <a:r>
              <a:rPr lang="en"/>
              <a:t>Customizable Character</a:t>
            </a:r>
            <a:endParaRPr/>
          </a:p>
          <a:p>
            <a:pPr indent="-342900" lvl="0" marL="457200" rtl="0" algn="l">
              <a:spcBef>
                <a:spcPts val="0"/>
              </a:spcBef>
              <a:spcAft>
                <a:spcPts val="0"/>
              </a:spcAft>
              <a:buSzPts val="1800"/>
              <a:buChar char="●"/>
            </a:pPr>
            <a:r>
              <a:rPr lang="en"/>
              <a:t>Enemy Combat</a:t>
            </a:r>
            <a:endParaRPr/>
          </a:p>
          <a:p>
            <a:pPr indent="0" lvl="0" marL="0" rtl="0" algn="l">
              <a:spcBef>
                <a:spcPts val="1600"/>
              </a:spcBef>
              <a:spcAft>
                <a:spcPts val="1600"/>
              </a:spcAft>
              <a:buNone/>
            </a:pPr>
            <a:r>
              <a:t/>
            </a:r>
            <a:endParaRPr/>
          </a:p>
        </p:txBody>
      </p:sp>
      <p:sp>
        <p:nvSpPr>
          <p:cNvPr id="62" name="Google Shape;62;p14"/>
          <p:cNvSpPr txBox="1"/>
          <p:nvPr>
            <p:ph idx="1" type="body"/>
          </p:nvPr>
        </p:nvSpPr>
        <p:spPr>
          <a:xfrm>
            <a:off x="5435400" y="3044625"/>
            <a:ext cx="3708600" cy="2013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10+ Classes</a:t>
            </a:r>
            <a:endParaRPr/>
          </a:p>
          <a:p>
            <a:pPr indent="-342900" lvl="0" marL="457200" rtl="0" algn="l">
              <a:spcBef>
                <a:spcPts val="0"/>
              </a:spcBef>
              <a:spcAft>
                <a:spcPts val="0"/>
              </a:spcAft>
              <a:buSzPts val="1800"/>
              <a:buChar char="●"/>
            </a:pPr>
            <a:r>
              <a:rPr lang="en"/>
              <a:t>Uses of both Superclasses and extending</a:t>
            </a:r>
            <a:endParaRPr/>
          </a:p>
          <a:p>
            <a:pPr indent="-342900" lvl="0" marL="457200" rtl="0" algn="l">
              <a:spcBef>
                <a:spcPts val="0"/>
              </a:spcBef>
              <a:spcAft>
                <a:spcPts val="0"/>
              </a:spcAft>
              <a:buSzPts val="1800"/>
              <a:buChar char="●"/>
            </a:pPr>
            <a:r>
              <a:rPr lang="en"/>
              <a:t>Optimized for Cohesion and Coupling</a:t>
            </a:r>
            <a:endParaRPr/>
          </a:p>
        </p:txBody>
      </p:sp>
      <p:pic>
        <p:nvPicPr>
          <p:cNvPr descr="Help.png" id="63" name="Google Shape;63;p14"/>
          <p:cNvPicPr preferRelativeResize="0"/>
          <p:nvPr/>
        </p:nvPicPr>
        <p:blipFill>
          <a:blip r:embed="rId3">
            <a:alphaModFix/>
          </a:blip>
          <a:stretch>
            <a:fillRect/>
          </a:stretch>
        </p:blipFill>
        <p:spPr>
          <a:xfrm>
            <a:off x="311698" y="2905350"/>
            <a:ext cx="3409425" cy="1842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descr="Tile Titan FlowChart.png" id="68" name="Google Shape;68;p15"/>
          <p:cNvPicPr preferRelativeResize="0"/>
          <p:nvPr/>
        </p:nvPicPr>
        <p:blipFill rotWithShape="1">
          <a:blip r:embed="rId3">
            <a:alphaModFix/>
          </a:blip>
          <a:srcRect b="0" l="748" r="748" t="0"/>
          <a:stretch/>
        </p:blipFill>
        <p:spPr>
          <a:xfrm>
            <a:off x="0" y="-56125"/>
            <a:ext cx="9143994" cy="5199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ctrTitle"/>
          </p:nvPr>
        </p:nvSpPr>
        <p:spPr>
          <a:xfrm>
            <a:off x="311706" y="744575"/>
            <a:ext cx="19233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descr="UML Left.png" id="75" name="Google Shape;75;p16"/>
          <p:cNvPicPr preferRelativeResize="0"/>
          <p:nvPr/>
        </p:nvPicPr>
        <p:blipFill>
          <a:blip r:embed="rId3">
            <a:alphaModFix/>
          </a:blip>
          <a:stretch>
            <a:fillRect/>
          </a:stretch>
        </p:blipFill>
        <p:spPr>
          <a:xfrm>
            <a:off x="9" y="0"/>
            <a:ext cx="6424831" cy="5143500"/>
          </a:xfrm>
          <a:prstGeom prst="rect">
            <a:avLst/>
          </a:prstGeom>
          <a:noFill/>
          <a:ln>
            <a:noFill/>
          </a:ln>
        </p:spPr>
      </p:pic>
      <p:pic>
        <p:nvPicPr>
          <p:cNvPr descr="UML RightUp.png" id="76" name="Google Shape;76;p16"/>
          <p:cNvPicPr preferRelativeResize="0"/>
          <p:nvPr/>
        </p:nvPicPr>
        <p:blipFill>
          <a:blip r:embed="rId4">
            <a:alphaModFix/>
          </a:blip>
          <a:stretch>
            <a:fillRect/>
          </a:stretch>
        </p:blipFill>
        <p:spPr>
          <a:xfrm>
            <a:off x="6638079" y="0"/>
            <a:ext cx="1231542" cy="5143499"/>
          </a:xfrm>
          <a:prstGeom prst="rect">
            <a:avLst/>
          </a:prstGeom>
          <a:noFill/>
          <a:ln>
            <a:noFill/>
          </a:ln>
        </p:spPr>
      </p:pic>
      <p:pic>
        <p:nvPicPr>
          <p:cNvPr descr="UML RightDown.png" id="77" name="Google Shape;77;p16"/>
          <p:cNvPicPr preferRelativeResize="0"/>
          <p:nvPr/>
        </p:nvPicPr>
        <p:blipFill>
          <a:blip r:embed="rId5">
            <a:alphaModFix/>
          </a:blip>
          <a:stretch>
            <a:fillRect/>
          </a:stretch>
        </p:blipFill>
        <p:spPr>
          <a:xfrm>
            <a:off x="7829587" y="0"/>
            <a:ext cx="1045427" cy="5143501"/>
          </a:xfrm>
          <a:prstGeom prst="rect">
            <a:avLst/>
          </a:prstGeom>
          <a:noFill/>
          <a:ln>
            <a:noFill/>
          </a:ln>
        </p:spPr>
      </p:pic>
      <p:sp>
        <p:nvSpPr>
          <p:cNvPr id="78" name="Google Shape;78;p16"/>
          <p:cNvSpPr txBox="1"/>
          <p:nvPr/>
        </p:nvSpPr>
        <p:spPr>
          <a:xfrm>
            <a:off x="4443025" y="620425"/>
            <a:ext cx="320100" cy="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a:t>
            </a:r>
            <a:endParaRPr/>
          </a:p>
        </p:txBody>
      </p:sp>
      <p:sp>
        <p:nvSpPr>
          <p:cNvPr id="84" name="Google Shape;84;p17"/>
          <p:cNvSpPr txBox="1"/>
          <p:nvPr>
            <p:ph idx="1" type="body"/>
          </p:nvPr>
        </p:nvSpPr>
        <p:spPr>
          <a:xfrm>
            <a:off x="311700" y="1152475"/>
            <a:ext cx="4450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public static void main (String Args[]){</a:t>
            </a:r>
            <a:endParaRPr/>
          </a:p>
          <a:p>
            <a:pPr indent="0" lvl="0" marL="0" rtl="0" algn="l">
              <a:spcBef>
                <a:spcPts val="1600"/>
              </a:spcBef>
              <a:spcAft>
                <a:spcPts val="0"/>
              </a:spcAft>
              <a:buNone/>
            </a:pPr>
            <a:r>
              <a:rPr lang="en"/>
              <a:t>	TileTitan game = new TileTitan();</a:t>
            </a:r>
            <a:endParaRPr/>
          </a:p>
          <a:p>
            <a:pPr indent="0" lvl="0" marL="0" rtl="0" algn="l">
              <a:spcBef>
                <a:spcPts val="1600"/>
              </a:spcBef>
              <a:spcAft>
                <a:spcPts val="0"/>
              </a:spcAft>
              <a:buNone/>
            </a:pPr>
            <a:r>
              <a:rPr lang="en"/>
              <a:t>}</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Plain and Simple, What a main should be!</a:t>
            </a:r>
            <a:endParaRPr/>
          </a:p>
        </p:txBody>
      </p:sp>
      <p:sp>
        <p:nvSpPr>
          <p:cNvPr id="85" name="Google Shape;85;p17"/>
          <p:cNvSpPr txBox="1"/>
          <p:nvPr/>
        </p:nvSpPr>
        <p:spPr>
          <a:xfrm>
            <a:off x="5446750" y="1596325"/>
            <a:ext cx="3308700" cy="287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From UML</a:t>
            </a:r>
            <a:endParaRPr/>
          </a:p>
          <a:p>
            <a:pPr indent="0" lvl="0" marL="0" rtl="0" algn="l">
              <a:spcBef>
                <a:spcPts val="0"/>
              </a:spcBef>
              <a:spcAft>
                <a:spcPts val="0"/>
              </a:spcAft>
              <a:buNone/>
            </a:pPr>
            <a:r>
              <a:t/>
            </a:r>
            <a:endParaRPr/>
          </a:p>
          <a:p>
            <a:pPr indent="0" lvl="0" marL="0" rtl="0" algn="ctr">
              <a:spcBef>
                <a:spcPts val="0"/>
              </a:spcBef>
              <a:spcAft>
                <a:spcPts val="0"/>
              </a:spcAft>
              <a:buClr>
                <a:schemeClr val="dk1"/>
              </a:buClr>
              <a:buSzPts val="1100"/>
              <a:buFont typeface="Arial"/>
              <a:buNone/>
            </a:pPr>
            <a:r>
              <a:rPr lang="en">
                <a:solidFill>
                  <a:schemeClr val="dk1"/>
                </a:solidFill>
                <a:highlight>
                  <a:srgbClr val="EBEBEB"/>
                </a:highlight>
              </a:rPr>
              <a:t>Planned methods</a:t>
            </a:r>
            <a:endParaRPr>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a:solidFill>
                  <a:schemeClr val="dk1"/>
                </a:solidFill>
                <a:highlight>
                  <a:srgbClr val="EBEBEB"/>
                </a:highlight>
              </a:rPr>
              <a:t>Game.Start() // To initialize variables</a:t>
            </a:r>
            <a:endParaRPr>
              <a:solidFill>
                <a:schemeClr val="dk1"/>
              </a:solidFill>
              <a:highlight>
                <a:srgbClr val="EBEBEB"/>
              </a:highlight>
            </a:endParaRPr>
          </a:p>
          <a:p>
            <a:pPr indent="0" lvl="0" marL="0" rtl="0" algn="ctr">
              <a:lnSpc>
                <a:spcPct val="120000"/>
              </a:lnSpc>
              <a:spcBef>
                <a:spcPts val="0"/>
              </a:spcBef>
              <a:spcAft>
                <a:spcPts val="0"/>
              </a:spcAft>
              <a:buNone/>
            </a:pPr>
            <a:r>
              <a:rPr lang="en">
                <a:solidFill>
                  <a:schemeClr val="dk1"/>
                </a:solidFill>
                <a:highlight>
                  <a:srgbClr val="EBEBEB"/>
                </a:highlight>
              </a:rPr>
              <a:t>Graphics.Start()// To initialize visuals</a:t>
            </a:r>
            <a:endParaRPr>
              <a:solidFill>
                <a:schemeClr val="dk1"/>
              </a:solidFill>
              <a:highlight>
                <a:srgbClr val="EBEBEB"/>
              </a:highlight>
            </a:endParaRPr>
          </a:p>
          <a:p>
            <a:pPr indent="0" lvl="0" marL="0" rtl="0" algn="ctr">
              <a:lnSpc>
                <a:spcPct val="120000"/>
              </a:lnSpc>
              <a:spcBef>
                <a:spcPts val="0"/>
              </a:spcBef>
              <a:spcAft>
                <a:spcPts val="0"/>
              </a:spcAft>
              <a:buNone/>
            </a:pPr>
            <a:r>
              <a:t/>
            </a:r>
            <a:endParaRPr>
              <a:solidFill>
                <a:schemeClr val="dk1"/>
              </a:solidFill>
              <a:highlight>
                <a:srgbClr val="EBEBEB"/>
              </a:highlight>
            </a:endParaRPr>
          </a:p>
          <a:p>
            <a:pPr indent="-317500" lvl="0" marL="457200" rtl="0" algn="l">
              <a:lnSpc>
                <a:spcPct val="120000"/>
              </a:lnSpc>
              <a:spcBef>
                <a:spcPts val="0"/>
              </a:spcBef>
              <a:spcAft>
                <a:spcPts val="0"/>
              </a:spcAft>
              <a:buClr>
                <a:schemeClr val="dk1"/>
              </a:buClr>
              <a:buSzPts val="1400"/>
              <a:buChar char="●"/>
            </a:pPr>
            <a:r>
              <a:rPr lang="en">
                <a:solidFill>
                  <a:schemeClr val="dk1"/>
                </a:solidFill>
              </a:rPr>
              <a:t>At first we wanted to planed to invoke more than just the game, but a cleaner approach appeared and so we did it.</a:t>
            </a:r>
            <a:endParaRPr>
              <a:solidFill>
                <a:schemeClr val="dk1"/>
              </a:solidFill>
            </a:endParaRPr>
          </a:p>
          <a:p>
            <a:pPr indent="0" lvl="0" marL="0" rtl="0" algn="l">
              <a:lnSpc>
                <a:spcPct val="163636"/>
              </a:lnSpc>
              <a:spcBef>
                <a:spcPts val="0"/>
              </a:spcBef>
              <a:spcAft>
                <a:spcPts val="0"/>
              </a:spcAft>
              <a:buClr>
                <a:schemeClr val="dk1"/>
              </a:buClr>
              <a:buSzPts val="1100"/>
              <a:buFont typeface="Arial"/>
              <a:buNone/>
            </a:pPr>
            <a:r>
              <a:t/>
            </a:r>
            <a:endParaRPr sz="1950">
              <a:solidFill>
                <a:schemeClr val="dk1"/>
              </a:solidFill>
              <a:highlight>
                <a:srgbClr val="EBEBEB"/>
              </a:highlight>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TileTitan Class</a:t>
            </a:r>
            <a:endParaRPr/>
          </a:p>
        </p:txBody>
      </p:sp>
      <p:sp>
        <p:nvSpPr>
          <p:cNvPr id="91" name="Google Shape;91;p18"/>
          <p:cNvSpPr txBox="1"/>
          <p:nvPr>
            <p:ph idx="1" type="body"/>
          </p:nvPr>
        </p:nvSpPr>
        <p:spPr>
          <a:xfrm>
            <a:off x="2336800" y="1146938"/>
            <a:ext cx="4269900" cy="128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entire game in one class. This class takes methods,classes and puts it together to construct the game.</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92" name="Google Shape;92;p18"/>
          <p:cNvSpPr txBox="1"/>
          <p:nvPr/>
        </p:nvSpPr>
        <p:spPr>
          <a:xfrm>
            <a:off x="1311025" y="2513800"/>
            <a:ext cx="1236000" cy="4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GameLoop</a:t>
            </a:r>
            <a:endParaRPr/>
          </a:p>
        </p:txBody>
      </p:sp>
      <p:sp>
        <p:nvSpPr>
          <p:cNvPr id="93" name="Google Shape;93;p18"/>
          <p:cNvSpPr txBox="1"/>
          <p:nvPr/>
        </p:nvSpPr>
        <p:spPr>
          <a:xfrm>
            <a:off x="6264675" y="2599300"/>
            <a:ext cx="1283400" cy="35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JFrame</a:t>
            </a:r>
            <a:endParaRPr/>
          </a:p>
        </p:txBody>
      </p:sp>
      <p:sp>
        <p:nvSpPr>
          <p:cNvPr id="94" name="Google Shape;94;p18"/>
          <p:cNvSpPr txBox="1"/>
          <p:nvPr/>
        </p:nvSpPr>
        <p:spPr>
          <a:xfrm>
            <a:off x="3972550" y="3307650"/>
            <a:ext cx="998400" cy="4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Tile Titan</a:t>
            </a:r>
            <a:endParaRPr b="1"/>
          </a:p>
        </p:txBody>
      </p:sp>
      <p:sp>
        <p:nvSpPr>
          <p:cNvPr id="95" name="Google Shape;95;p18"/>
          <p:cNvSpPr txBox="1"/>
          <p:nvPr/>
        </p:nvSpPr>
        <p:spPr>
          <a:xfrm>
            <a:off x="6264675" y="4125575"/>
            <a:ext cx="1283400" cy="35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Enemy</a:t>
            </a:r>
            <a:endParaRPr/>
          </a:p>
        </p:txBody>
      </p:sp>
      <p:sp>
        <p:nvSpPr>
          <p:cNvPr id="96" name="Google Shape;96;p18"/>
          <p:cNvSpPr txBox="1"/>
          <p:nvPr/>
        </p:nvSpPr>
        <p:spPr>
          <a:xfrm>
            <a:off x="1311025" y="4125575"/>
            <a:ext cx="1236000" cy="4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BattleField</a:t>
            </a:r>
            <a:endParaRPr/>
          </a:p>
        </p:txBody>
      </p:sp>
      <p:cxnSp>
        <p:nvCxnSpPr>
          <p:cNvPr id="97" name="Google Shape;97;p18"/>
          <p:cNvCxnSpPr>
            <a:stCxn id="92" idx="3"/>
            <a:endCxn id="94" idx="0"/>
          </p:cNvCxnSpPr>
          <p:nvPr/>
        </p:nvCxnSpPr>
        <p:spPr>
          <a:xfrm>
            <a:off x="2547025" y="2732500"/>
            <a:ext cx="1924800" cy="575100"/>
          </a:xfrm>
          <a:prstGeom prst="straightConnector1">
            <a:avLst/>
          </a:prstGeom>
          <a:noFill/>
          <a:ln cap="flat" cmpd="sng" w="9525">
            <a:solidFill>
              <a:schemeClr val="dk2"/>
            </a:solidFill>
            <a:prstDash val="solid"/>
            <a:round/>
            <a:headEnd len="med" w="med" type="none"/>
            <a:tailEnd len="med" w="med" type="triangle"/>
          </a:ln>
        </p:spPr>
      </p:cxnSp>
      <p:cxnSp>
        <p:nvCxnSpPr>
          <p:cNvPr id="98" name="Google Shape;98;p18"/>
          <p:cNvCxnSpPr>
            <a:stCxn id="93" idx="1"/>
            <a:endCxn id="94" idx="0"/>
          </p:cNvCxnSpPr>
          <p:nvPr/>
        </p:nvCxnSpPr>
        <p:spPr>
          <a:xfrm flipH="1">
            <a:off x="4471875" y="2775250"/>
            <a:ext cx="1792800" cy="532500"/>
          </a:xfrm>
          <a:prstGeom prst="straightConnector1">
            <a:avLst/>
          </a:prstGeom>
          <a:noFill/>
          <a:ln cap="flat" cmpd="sng" w="9525">
            <a:solidFill>
              <a:schemeClr val="dk2"/>
            </a:solidFill>
            <a:prstDash val="solid"/>
            <a:round/>
            <a:headEnd len="med" w="med" type="none"/>
            <a:tailEnd len="med" w="med" type="triangle"/>
          </a:ln>
        </p:spPr>
      </p:cxnSp>
      <p:cxnSp>
        <p:nvCxnSpPr>
          <p:cNvPr id="99" name="Google Shape;99;p18"/>
          <p:cNvCxnSpPr>
            <a:stCxn id="96" idx="3"/>
            <a:endCxn id="94" idx="2"/>
          </p:cNvCxnSpPr>
          <p:nvPr/>
        </p:nvCxnSpPr>
        <p:spPr>
          <a:xfrm flipH="1" rot="10800000">
            <a:off x="2547025" y="3745175"/>
            <a:ext cx="1924800" cy="599100"/>
          </a:xfrm>
          <a:prstGeom prst="straightConnector1">
            <a:avLst/>
          </a:prstGeom>
          <a:noFill/>
          <a:ln cap="flat" cmpd="sng" w="9525">
            <a:solidFill>
              <a:schemeClr val="dk2"/>
            </a:solidFill>
            <a:prstDash val="solid"/>
            <a:round/>
            <a:headEnd len="med" w="med" type="none"/>
            <a:tailEnd len="med" w="med" type="triangle"/>
          </a:ln>
        </p:spPr>
      </p:cxnSp>
      <p:cxnSp>
        <p:nvCxnSpPr>
          <p:cNvPr id="100" name="Google Shape;100;p18"/>
          <p:cNvCxnSpPr>
            <a:stCxn id="95" idx="1"/>
            <a:endCxn id="94" idx="2"/>
          </p:cNvCxnSpPr>
          <p:nvPr/>
        </p:nvCxnSpPr>
        <p:spPr>
          <a:xfrm rot="10800000">
            <a:off x="4471875" y="3745025"/>
            <a:ext cx="1792800" cy="556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16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Code for TileTitan Class</a:t>
            </a:r>
            <a:endParaRPr/>
          </a:p>
        </p:txBody>
      </p:sp>
      <p:sp>
        <p:nvSpPr>
          <p:cNvPr id="106" name="Google Shape;106;p19"/>
          <p:cNvSpPr txBox="1"/>
          <p:nvPr>
            <p:ph idx="1" type="body"/>
          </p:nvPr>
        </p:nvSpPr>
        <p:spPr>
          <a:xfrm>
            <a:off x="368750" y="1485250"/>
            <a:ext cx="39465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200"/>
              <a:t>        frame = new Frame();</a:t>
            </a:r>
            <a:endParaRPr sz="1200"/>
          </a:p>
          <a:p>
            <a:pPr indent="0" lvl="0" marL="0" rtl="0" algn="l">
              <a:lnSpc>
                <a:spcPct val="100000"/>
              </a:lnSpc>
              <a:spcBef>
                <a:spcPts val="0"/>
              </a:spcBef>
              <a:spcAft>
                <a:spcPts val="0"/>
              </a:spcAft>
              <a:buClr>
                <a:schemeClr val="dk1"/>
              </a:buClr>
              <a:buSzPts val="1100"/>
              <a:buFont typeface="Arial"/>
              <a:buNone/>
            </a:pPr>
            <a:r>
              <a:rPr lang="en" sz="1200"/>
              <a:t>        organizer = new JPanel(new CardLayout());</a:t>
            </a:r>
            <a:endParaRPr sz="1200"/>
          </a:p>
          <a:p>
            <a:pPr indent="0" lvl="0" marL="0" rtl="0" algn="l">
              <a:lnSpc>
                <a:spcPct val="100000"/>
              </a:lnSpc>
              <a:spcBef>
                <a:spcPts val="0"/>
              </a:spcBef>
              <a:spcAft>
                <a:spcPts val="0"/>
              </a:spcAft>
              <a:buClr>
                <a:schemeClr val="dk1"/>
              </a:buClr>
              <a:buSzPts val="1100"/>
              <a:buFont typeface="Arial"/>
              <a:buNone/>
            </a:pPr>
            <a:r>
              <a:rPr lang="en" sz="1200"/>
              <a:t>        frame.add(organizer);</a:t>
            </a:r>
            <a:endParaRPr sz="1200"/>
          </a:p>
          <a:p>
            <a:pPr indent="0" lvl="0" marL="0" rtl="0" algn="l">
              <a:lnSpc>
                <a:spcPct val="100000"/>
              </a:lnSpc>
              <a:spcBef>
                <a:spcPts val="0"/>
              </a:spcBef>
              <a:spcAft>
                <a:spcPts val="0"/>
              </a:spcAft>
              <a:buClr>
                <a:schemeClr val="dk1"/>
              </a:buClr>
              <a:buSzPts val="1100"/>
              <a:buFont typeface="Arial"/>
              <a:buNone/>
            </a:pPr>
            <a:r>
              <a:rPr lang="en" sz="1200"/>
              <a:t>            </a:t>
            </a:r>
            <a:endParaRPr sz="1200"/>
          </a:p>
          <a:p>
            <a:pPr indent="0" lvl="0" marL="0" rtl="0" algn="l">
              <a:lnSpc>
                <a:spcPct val="100000"/>
              </a:lnSpc>
              <a:spcBef>
                <a:spcPts val="0"/>
              </a:spcBef>
              <a:spcAft>
                <a:spcPts val="0"/>
              </a:spcAft>
              <a:buClr>
                <a:schemeClr val="dk1"/>
              </a:buClr>
              <a:buSzPts val="1100"/>
              <a:buFont typeface="Arial"/>
              <a:buNone/>
            </a:pPr>
            <a:r>
              <a:rPr lang="en" sz="1200"/>
              <a:t>        player = new PlayerCharacter("Bobby Ross");</a:t>
            </a:r>
            <a:endParaRPr sz="1200"/>
          </a:p>
          <a:p>
            <a:pPr indent="0" lvl="0" marL="0" rtl="0" algn="l">
              <a:lnSpc>
                <a:spcPct val="100000"/>
              </a:lnSpc>
              <a:spcBef>
                <a:spcPts val="0"/>
              </a:spcBef>
              <a:spcAft>
                <a:spcPts val="0"/>
              </a:spcAft>
              <a:buClr>
                <a:schemeClr val="dk1"/>
              </a:buClr>
              <a:buSzPts val="1100"/>
              <a:buFont typeface="Arial"/>
              <a:buNone/>
            </a:pPr>
            <a:r>
              <a:rPr lang="en" sz="1200"/>
              <a:t>        statScreen = new StatDistribution(player);</a:t>
            </a:r>
            <a:endParaRPr sz="1200"/>
          </a:p>
          <a:p>
            <a:pPr indent="0" lvl="0" marL="0" rtl="0" algn="l">
              <a:lnSpc>
                <a:spcPct val="100000"/>
              </a:lnSpc>
              <a:spcBef>
                <a:spcPts val="0"/>
              </a:spcBef>
              <a:spcAft>
                <a:spcPts val="0"/>
              </a:spcAft>
              <a:buClr>
                <a:schemeClr val="dk1"/>
              </a:buClr>
              <a:buSzPts val="1100"/>
              <a:buFont typeface="Arial"/>
              <a:buNone/>
            </a:pPr>
            <a:r>
              <a:rPr lang="en" sz="1200"/>
              <a:t>                </a:t>
            </a:r>
            <a:endParaRPr sz="1200"/>
          </a:p>
          <a:p>
            <a:pPr indent="0" lvl="0" marL="0" rtl="0" algn="l">
              <a:lnSpc>
                <a:spcPct val="100000"/>
              </a:lnSpc>
              <a:spcBef>
                <a:spcPts val="0"/>
              </a:spcBef>
              <a:spcAft>
                <a:spcPts val="0"/>
              </a:spcAft>
              <a:buClr>
                <a:schemeClr val="dk1"/>
              </a:buClr>
              <a:buSzPts val="1100"/>
              <a:buFont typeface="Arial"/>
              <a:buNone/>
            </a:pPr>
            <a:r>
              <a:rPr lang="en" sz="1200"/>
              <a:t>        battlefield = new Battlefield();</a:t>
            </a:r>
            <a:endParaRPr sz="1200"/>
          </a:p>
          <a:p>
            <a:pPr indent="0" lvl="0" marL="0" rtl="0" algn="l">
              <a:lnSpc>
                <a:spcPct val="100000"/>
              </a:lnSpc>
              <a:spcBef>
                <a:spcPts val="0"/>
              </a:spcBef>
              <a:spcAft>
                <a:spcPts val="0"/>
              </a:spcAft>
              <a:buNone/>
            </a:pPr>
            <a:r>
              <a:rPr lang="en" sz="1200"/>
              <a:t>         </a:t>
            </a:r>
            <a:endParaRPr sz="1200"/>
          </a:p>
          <a:p>
            <a:pPr indent="0" lvl="0" marL="0" rtl="0" algn="l">
              <a:lnSpc>
                <a:spcPct val="100000"/>
              </a:lnSpc>
              <a:spcBef>
                <a:spcPts val="0"/>
              </a:spcBef>
              <a:spcAft>
                <a:spcPts val="0"/>
              </a:spcAft>
              <a:buClr>
                <a:schemeClr val="dk1"/>
              </a:buClr>
              <a:buSzPts val="1100"/>
              <a:buFont typeface="Arial"/>
              <a:buNone/>
            </a:pPr>
            <a:r>
              <a:rPr lang="en" sz="1200"/>
              <a:t>        organizer.add(statScreen,"StatDistribution");</a:t>
            </a:r>
            <a:endParaRPr sz="1200"/>
          </a:p>
          <a:p>
            <a:pPr indent="0" lvl="0" marL="0" rtl="0" algn="l">
              <a:lnSpc>
                <a:spcPct val="100000"/>
              </a:lnSpc>
              <a:spcBef>
                <a:spcPts val="0"/>
              </a:spcBef>
              <a:spcAft>
                <a:spcPts val="0"/>
              </a:spcAft>
              <a:buClr>
                <a:schemeClr val="dk1"/>
              </a:buClr>
              <a:buSzPts val="1100"/>
              <a:buFont typeface="Arial"/>
              <a:buNone/>
            </a:pPr>
            <a:r>
              <a:rPr lang="en" sz="1200"/>
              <a:t>        organizer.add(battlefield, "Battlefield");</a:t>
            </a:r>
            <a:endParaRPr sz="1200"/>
          </a:p>
          <a:p>
            <a:pPr indent="0" lvl="0" marL="0" rtl="0" algn="l">
              <a:lnSpc>
                <a:spcPct val="100000"/>
              </a:lnSpc>
              <a:spcBef>
                <a:spcPts val="0"/>
              </a:spcBef>
              <a:spcAft>
                <a:spcPts val="0"/>
              </a:spcAft>
              <a:buNone/>
            </a:pPr>
            <a:r>
              <a:rPr lang="en" sz="1200"/>
              <a:t>        </a:t>
            </a:r>
            <a:endParaRPr sz="1200"/>
          </a:p>
          <a:p>
            <a:pPr indent="0" lvl="0" marL="0" rtl="0" algn="l">
              <a:lnSpc>
                <a:spcPct val="100000"/>
              </a:lnSpc>
              <a:spcBef>
                <a:spcPts val="0"/>
              </a:spcBef>
              <a:spcAft>
                <a:spcPts val="0"/>
              </a:spcAft>
              <a:buClr>
                <a:schemeClr val="dk1"/>
              </a:buClr>
              <a:buSzPts val="1100"/>
              <a:buFont typeface="Arial"/>
              <a:buNone/>
            </a:pPr>
            <a:r>
              <a:rPr lang="en" sz="1200"/>
              <a:t>        manager = (CardLayout) organizer.getLayout();</a:t>
            </a:r>
            <a:endParaRPr sz="1200"/>
          </a:p>
          <a:p>
            <a:pPr indent="0" lvl="0" marL="0" rtl="0" algn="l">
              <a:lnSpc>
                <a:spcPct val="100000"/>
              </a:lnSpc>
              <a:spcBef>
                <a:spcPts val="0"/>
              </a:spcBef>
              <a:spcAft>
                <a:spcPts val="0"/>
              </a:spcAft>
              <a:buClr>
                <a:schemeClr val="dk1"/>
              </a:buClr>
              <a:buSzPts val="1100"/>
              <a:buFont typeface="Arial"/>
              <a:buNone/>
            </a:pPr>
            <a:r>
              <a:rPr lang="en" sz="1200"/>
              <a:t>        manager.show(organizer, "StatDistribution");</a:t>
            </a:r>
            <a:endParaRPr sz="1200"/>
          </a:p>
          <a:p>
            <a:pPr indent="0" lvl="0" marL="0" rtl="0" algn="l">
              <a:lnSpc>
                <a:spcPct val="100000"/>
              </a:lnSpc>
              <a:spcBef>
                <a:spcPts val="0"/>
              </a:spcBef>
              <a:spcAft>
                <a:spcPts val="0"/>
              </a:spcAft>
              <a:buNone/>
            </a:pPr>
            <a:r>
              <a:t/>
            </a:r>
            <a:endParaRPr sz="1200"/>
          </a:p>
        </p:txBody>
      </p:sp>
      <p:sp>
        <p:nvSpPr>
          <p:cNvPr id="107" name="Google Shape;107;p19"/>
          <p:cNvSpPr txBox="1"/>
          <p:nvPr/>
        </p:nvSpPr>
        <p:spPr>
          <a:xfrm>
            <a:off x="6007725" y="2485150"/>
            <a:ext cx="2329200" cy="12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Class initiates different classes in order to construct our game and puts it together conviently in once class.</a:t>
            </a:r>
            <a:endParaRPr/>
          </a:p>
        </p:txBody>
      </p:sp>
      <p:cxnSp>
        <p:nvCxnSpPr>
          <p:cNvPr id="108" name="Google Shape;108;p19"/>
          <p:cNvCxnSpPr>
            <a:stCxn id="107" idx="1"/>
          </p:cNvCxnSpPr>
          <p:nvPr/>
        </p:nvCxnSpPr>
        <p:spPr>
          <a:xfrm rot="10800000">
            <a:off x="4229925" y="2000350"/>
            <a:ext cx="1777800" cy="1107600"/>
          </a:xfrm>
          <a:prstGeom prst="straightConnector1">
            <a:avLst/>
          </a:prstGeom>
          <a:noFill/>
          <a:ln cap="flat" cmpd="sng" w="9525">
            <a:solidFill>
              <a:schemeClr val="dk2"/>
            </a:solidFill>
            <a:prstDash val="solid"/>
            <a:round/>
            <a:headEnd len="med" w="med" type="none"/>
            <a:tailEnd len="med" w="med" type="triangle"/>
          </a:ln>
        </p:spPr>
      </p:cxnSp>
      <p:cxnSp>
        <p:nvCxnSpPr>
          <p:cNvPr id="109" name="Google Shape;109;p19"/>
          <p:cNvCxnSpPr>
            <a:stCxn id="107" idx="1"/>
          </p:cNvCxnSpPr>
          <p:nvPr/>
        </p:nvCxnSpPr>
        <p:spPr>
          <a:xfrm rot="10800000">
            <a:off x="3916125" y="3103150"/>
            <a:ext cx="2091600" cy="4800"/>
          </a:xfrm>
          <a:prstGeom prst="straightConnector1">
            <a:avLst/>
          </a:prstGeom>
          <a:noFill/>
          <a:ln cap="flat" cmpd="sng" w="9525">
            <a:solidFill>
              <a:schemeClr val="dk2"/>
            </a:solidFill>
            <a:prstDash val="solid"/>
            <a:round/>
            <a:headEnd len="med" w="med" type="none"/>
            <a:tailEnd len="med" w="med" type="triangle"/>
          </a:ln>
        </p:spPr>
      </p:cxnSp>
      <p:cxnSp>
        <p:nvCxnSpPr>
          <p:cNvPr id="110" name="Google Shape;110;p19"/>
          <p:cNvCxnSpPr>
            <a:stCxn id="107" idx="1"/>
          </p:cNvCxnSpPr>
          <p:nvPr/>
        </p:nvCxnSpPr>
        <p:spPr>
          <a:xfrm flipH="1">
            <a:off x="4191825" y="3107950"/>
            <a:ext cx="1815900" cy="936600"/>
          </a:xfrm>
          <a:prstGeom prst="straightConnector1">
            <a:avLst/>
          </a:prstGeom>
          <a:noFill/>
          <a:ln cap="flat" cmpd="sng" w="9525">
            <a:solidFill>
              <a:schemeClr val="dk2"/>
            </a:solidFill>
            <a:prstDash val="solid"/>
            <a:round/>
            <a:headEnd len="med" w="med" type="none"/>
            <a:tailEnd len="med" w="med" type="triangle"/>
          </a:ln>
        </p:spPr>
      </p:cxnSp>
      <p:sp>
        <p:nvSpPr>
          <p:cNvPr id="111" name="Google Shape;111;p19"/>
          <p:cNvSpPr txBox="1"/>
          <p:nvPr/>
        </p:nvSpPr>
        <p:spPr>
          <a:xfrm>
            <a:off x="4828775" y="1825575"/>
            <a:ext cx="1445100" cy="38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JFrame</a:t>
            </a:r>
            <a:endParaRPr/>
          </a:p>
        </p:txBody>
      </p:sp>
      <p:sp>
        <p:nvSpPr>
          <p:cNvPr id="112" name="Google Shape;112;p19"/>
          <p:cNvSpPr txBox="1"/>
          <p:nvPr/>
        </p:nvSpPr>
        <p:spPr>
          <a:xfrm>
            <a:off x="3906575" y="2486255"/>
            <a:ext cx="1587600" cy="61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Battlefield &amp; Player</a:t>
            </a:r>
            <a:endParaRPr/>
          </a:p>
        </p:txBody>
      </p:sp>
      <p:sp>
        <p:nvSpPr>
          <p:cNvPr id="113" name="Google Shape;113;p19"/>
          <p:cNvSpPr txBox="1"/>
          <p:nvPr/>
        </p:nvSpPr>
        <p:spPr>
          <a:xfrm>
            <a:off x="4600650" y="3955250"/>
            <a:ext cx="9222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Panel Manager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Visual Framing </a:t>
            </a:r>
            <a:endParaRPr/>
          </a:p>
        </p:txBody>
      </p:sp>
      <p:sp>
        <p:nvSpPr>
          <p:cNvPr id="119" name="Google Shape;119;p20"/>
          <p:cNvSpPr txBox="1"/>
          <p:nvPr>
            <p:ph idx="1" type="body"/>
          </p:nvPr>
        </p:nvSpPr>
        <p:spPr>
          <a:xfrm>
            <a:off x="311700" y="1152475"/>
            <a:ext cx="8520600" cy="109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Our approach to displaying our different screens consisted of created different panels in different classes. From there we added them to the TileTitan class and compiled all of them into a singular JFrame using a CardLayout manager.</a:t>
            </a:r>
            <a:endParaRPr/>
          </a:p>
        </p:txBody>
      </p:sp>
      <p:sp>
        <p:nvSpPr>
          <p:cNvPr id="120" name="Google Shape;120;p20"/>
          <p:cNvSpPr txBox="1"/>
          <p:nvPr/>
        </p:nvSpPr>
        <p:spPr>
          <a:xfrm>
            <a:off x="445875" y="2689675"/>
            <a:ext cx="1102800" cy="3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TitleScreen</a:t>
            </a:r>
            <a:endParaRPr/>
          </a:p>
        </p:txBody>
      </p:sp>
      <p:sp>
        <p:nvSpPr>
          <p:cNvPr id="121" name="Google Shape;121;p20"/>
          <p:cNvSpPr txBox="1"/>
          <p:nvPr/>
        </p:nvSpPr>
        <p:spPr>
          <a:xfrm>
            <a:off x="445875" y="3060475"/>
            <a:ext cx="1615800" cy="3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title = new TitleScreen();</a:t>
            </a:r>
            <a:endParaRPr sz="1000"/>
          </a:p>
        </p:txBody>
      </p:sp>
      <p:sp>
        <p:nvSpPr>
          <p:cNvPr id="122" name="Google Shape;122;p20"/>
          <p:cNvSpPr txBox="1"/>
          <p:nvPr/>
        </p:nvSpPr>
        <p:spPr>
          <a:xfrm>
            <a:off x="2452500" y="2689675"/>
            <a:ext cx="1102800" cy="3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BattleField</a:t>
            </a:r>
            <a:endParaRPr/>
          </a:p>
        </p:txBody>
      </p:sp>
      <p:sp>
        <p:nvSpPr>
          <p:cNvPr id="123" name="Google Shape;123;p20"/>
          <p:cNvSpPr txBox="1"/>
          <p:nvPr/>
        </p:nvSpPr>
        <p:spPr>
          <a:xfrm>
            <a:off x="2490550" y="3060475"/>
            <a:ext cx="1615800" cy="3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field  = new BattleField();</a:t>
            </a:r>
            <a:endParaRPr sz="1000"/>
          </a:p>
        </p:txBody>
      </p:sp>
      <p:sp>
        <p:nvSpPr>
          <p:cNvPr id="124" name="Google Shape;124;p20"/>
          <p:cNvSpPr txBox="1"/>
          <p:nvPr/>
        </p:nvSpPr>
        <p:spPr>
          <a:xfrm>
            <a:off x="4297250" y="2689675"/>
            <a:ext cx="1102800" cy="3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Instructions</a:t>
            </a:r>
            <a:endParaRPr/>
          </a:p>
        </p:txBody>
      </p:sp>
      <p:sp>
        <p:nvSpPr>
          <p:cNvPr id="125" name="Google Shape;125;p20"/>
          <p:cNvSpPr txBox="1"/>
          <p:nvPr/>
        </p:nvSpPr>
        <p:spPr>
          <a:xfrm>
            <a:off x="4297250" y="3060475"/>
            <a:ext cx="2005200" cy="3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instructions  = new Instructions);</a:t>
            </a:r>
            <a:endParaRPr sz="1000"/>
          </a:p>
        </p:txBody>
      </p:sp>
      <p:sp>
        <p:nvSpPr>
          <p:cNvPr id="126" name="Google Shape;126;p20"/>
          <p:cNvSpPr txBox="1"/>
          <p:nvPr/>
        </p:nvSpPr>
        <p:spPr>
          <a:xfrm>
            <a:off x="2747050" y="4249075"/>
            <a:ext cx="1102800" cy="3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TitleTitan</a:t>
            </a:r>
            <a:endParaRPr b="1"/>
          </a:p>
        </p:txBody>
      </p:sp>
      <p:cxnSp>
        <p:nvCxnSpPr>
          <p:cNvPr id="127" name="Google Shape;127;p20"/>
          <p:cNvCxnSpPr>
            <a:stCxn id="121" idx="2"/>
            <a:endCxn id="126" idx="0"/>
          </p:cNvCxnSpPr>
          <p:nvPr/>
        </p:nvCxnSpPr>
        <p:spPr>
          <a:xfrm>
            <a:off x="1253775" y="3431275"/>
            <a:ext cx="2044800" cy="817800"/>
          </a:xfrm>
          <a:prstGeom prst="straightConnector1">
            <a:avLst/>
          </a:prstGeom>
          <a:noFill/>
          <a:ln cap="flat" cmpd="sng" w="9525">
            <a:solidFill>
              <a:schemeClr val="dk2"/>
            </a:solidFill>
            <a:prstDash val="solid"/>
            <a:round/>
            <a:headEnd len="med" w="med" type="none"/>
            <a:tailEnd len="med" w="med" type="triangle"/>
          </a:ln>
        </p:spPr>
      </p:cxnSp>
      <p:cxnSp>
        <p:nvCxnSpPr>
          <p:cNvPr id="128" name="Google Shape;128;p20"/>
          <p:cNvCxnSpPr>
            <a:stCxn id="123" idx="2"/>
            <a:endCxn id="126" idx="0"/>
          </p:cNvCxnSpPr>
          <p:nvPr/>
        </p:nvCxnSpPr>
        <p:spPr>
          <a:xfrm>
            <a:off x="3298450" y="3431275"/>
            <a:ext cx="0" cy="817800"/>
          </a:xfrm>
          <a:prstGeom prst="straightConnector1">
            <a:avLst/>
          </a:prstGeom>
          <a:noFill/>
          <a:ln cap="flat" cmpd="sng" w="9525">
            <a:solidFill>
              <a:schemeClr val="dk2"/>
            </a:solidFill>
            <a:prstDash val="solid"/>
            <a:round/>
            <a:headEnd len="med" w="med" type="none"/>
            <a:tailEnd len="med" w="med" type="triangle"/>
          </a:ln>
        </p:spPr>
      </p:cxnSp>
      <p:cxnSp>
        <p:nvCxnSpPr>
          <p:cNvPr id="129" name="Google Shape;129;p20"/>
          <p:cNvCxnSpPr>
            <a:stCxn id="125" idx="2"/>
            <a:endCxn id="126" idx="0"/>
          </p:cNvCxnSpPr>
          <p:nvPr/>
        </p:nvCxnSpPr>
        <p:spPr>
          <a:xfrm flipH="1">
            <a:off x="3298550" y="3431275"/>
            <a:ext cx="2001300" cy="817800"/>
          </a:xfrm>
          <a:prstGeom prst="straightConnector1">
            <a:avLst/>
          </a:prstGeom>
          <a:noFill/>
          <a:ln cap="flat" cmpd="sng" w="9525">
            <a:solidFill>
              <a:schemeClr val="dk2"/>
            </a:solidFill>
            <a:prstDash val="solid"/>
            <a:round/>
            <a:headEnd len="med" w="med" type="none"/>
            <a:tailEnd len="med" w="med" type="triangle"/>
          </a:ln>
        </p:spPr>
      </p:cxnSp>
      <p:sp>
        <p:nvSpPr>
          <p:cNvPr id="130" name="Google Shape;130;p20"/>
          <p:cNvSpPr txBox="1"/>
          <p:nvPr/>
        </p:nvSpPr>
        <p:spPr>
          <a:xfrm>
            <a:off x="7083225" y="3060475"/>
            <a:ext cx="1329900" cy="3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CardLayout</a:t>
            </a:r>
            <a:endParaRPr/>
          </a:p>
        </p:txBody>
      </p:sp>
      <p:sp>
        <p:nvSpPr>
          <p:cNvPr id="131" name="Google Shape;131;p20"/>
          <p:cNvSpPr txBox="1"/>
          <p:nvPr/>
        </p:nvSpPr>
        <p:spPr>
          <a:xfrm>
            <a:off x="6638775" y="3431275"/>
            <a:ext cx="2218800" cy="14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CardLayout is a subset class of the LayoutManager used to control GUI elements.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Here we use it to control the current screen that is being displayed.</a:t>
            </a:r>
            <a:endParaRPr sz="1200"/>
          </a:p>
          <a:p>
            <a:pPr indent="0" lvl="0" marL="0" rtl="0" algn="l">
              <a:spcBef>
                <a:spcPts val="0"/>
              </a:spcBef>
              <a:spcAft>
                <a:spcPts val="0"/>
              </a:spcAft>
              <a:buNone/>
            </a:pPr>
            <a:r>
              <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GameLoop</a:t>
            </a:r>
            <a:endParaRPr/>
          </a:p>
        </p:txBody>
      </p:sp>
      <p:sp>
        <p:nvSpPr>
          <p:cNvPr id="137" name="Google Shape;137;p21"/>
          <p:cNvSpPr txBox="1"/>
          <p:nvPr>
            <p:ph idx="1" type="body"/>
          </p:nvPr>
        </p:nvSpPr>
        <p:spPr>
          <a:xfrm>
            <a:off x="311700" y="1104950"/>
            <a:ext cx="8520600" cy="405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Our game loop class is in charge of handling the updating of graphics. </a:t>
            </a:r>
            <a:endParaRPr/>
          </a:p>
        </p:txBody>
      </p:sp>
      <p:pic>
        <p:nvPicPr>
          <p:cNvPr descr="clockexample.png" id="138" name="Google Shape;138;p21"/>
          <p:cNvPicPr preferRelativeResize="0"/>
          <p:nvPr/>
        </p:nvPicPr>
        <p:blipFill>
          <a:blip r:embed="rId3">
            <a:alphaModFix/>
          </a:blip>
          <a:stretch>
            <a:fillRect/>
          </a:stretch>
        </p:blipFill>
        <p:spPr>
          <a:xfrm>
            <a:off x="311688" y="2017800"/>
            <a:ext cx="1590675" cy="1590675"/>
          </a:xfrm>
          <a:prstGeom prst="rect">
            <a:avLst/>
          </a:prstGeom>
          <a:noFill/>
          <a:ln>
            <a:noFill/>
          </a:ln>
        </p:spPr>
      </p:pic>
      <p:sp>
        <p:nvSpPr>
          <p:cNvPr id="139" name="Google Shape;139;p21"/>
          <p:cNvSpPr txBox="1"/>
          <p:nvPr/>
        </p:nvSpPr>
        <p:spPr>
          <a:xfrm>
            <a:off x="6036225" y="2072550"/>
            <a:ext cx="2452800" cy="9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We use Java’s System Clock in order to detect when to refresh the paint variable of our components</a:t>
            </a:r>
            <a:endParaRPr/>
          </a:p>
        </p:txBody>
      </p:sp>
      <p:sp>
        <p:nvSpPr>
          <p:cNvPr id="140" name="Google Shape;140;p21"/>
          <p:cNvSpPr txBox="1"/>
          <p:nvPr/>
        </p:nvSpPr>
        <p:spPr>
          <a:xfrm>
            <a:off x="1949925" y="3497800"/>
            <a:ext cx="3991200" cy="9984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Clr>
                <a:schemeClr val="dk1"/>
              </a:buClr>
              <a:buSzPts val="1100"/>
              <a:buFont typeface="Arial"/>
              <a:buNone/>
            </a:pPr>
            <a:r>
              <a:rPr lang="en"/>
              <a:t>if((cTime - oTime) == 30){</a:t>
            </a:r>
            <a:endParaRPr/>
          </a:p>
          <a:p>
            <a:pPr indent="0" lvl="0" marL="457200" rtl="0" algn="l">
              <a:spcBef>
                <a:spcPts val="0"/>
              </a:spcBef>
              <a:spcAft>
                <a:spcPts val="0"/>
              </a:spcAft>
              <a:buClr>
                <a:schemeClr val="dk1"/>
              </a:buClr>
              <a:buSzPts val="1100"/>
              <a:buFont typeface="Arial"/>
              <a:buNone/>
            </a:pPr>
            <a:r>
              <a:rPr lang="en"/>
              <a:t>	oTime = System.currentTimeMillis();</a:t>
            </a:r>
            <a:endParaRPr/>
          </a:p>
          <a:p>
            <a:pPr indent="457200" lvl="0" marL="457200" rtl="0" algn="l">
              <a:spcBef>
                <a:spcPts val="0"/>
              </a:spcBef>
              <a:spcAft>
                <a:spcPts val="0"/>
              </a:spcAft>
              <a:buNone/>
            </a:pPr>
            <a:r>
              <a:rPr lang="en"/>
              <a:t>frame.validate();</a:t>
            </a:r>
            <a:endParaRPr/>
          </a:p>
          <a:p>
            <a:pPr indent="0" lvl="0" marL="457200" rtl="0" algn="l">
              <a:spcBef>
                <a:spcPts val="0"/>
              </a:spcBef>
              <a:spcAft>
                <a:spcPts val="0"/>
              </a:spcAft>
              <a:buNone/>
            </a:pPr>
            <a:r>
              <a:rPr lang="en"/>
              <a:t>}</a:t>
            </a:r>
            <a:endParaRPr/>
          </a:p>
        </p:txBody>
      </p:sp>
      <p:sp>
        <p:nvSpPr>
          <p:cNvPr id="141" name="Google Shape;141;p21"/>
          <p:cNvSpPr txBox="1"/>
          <p:nvPr/>
        </p:nvSpPr>
        <p:spPr>
          <a:xfrm>
            <a:off x="6891875" y="3817300"/>
            <a:ext cx="14832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System Time</a:t>
            </a:r>
            <a:endParaRPr/>
          </a:p>
        </p:txBody>
      </p:sp>
      <p:cxnSp>
        <p:nvCxnSpPr>
          <p:cNvPr id="142" name="Google Shape;142;p21"/>
          <p:cNvCxnSpPr>
            <a:stCxn id="141" idx="1"/>
            <a:endCxn id="140" idx="3"/>
          </p:cNvCxnSpPr>
          <p:nvPr/>
        </p:nvCxnSpPr>
        <p:spPr>
          <a:xfrm rot="10800000">
            <a:off x="5941175" y="3997000"/>
            <a:ext cx="9507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Movable Interface</a:t>
            </a:r>
            <a:endParaRPr/>
          </a:p>
        </p:txBody>
      </p:sp>
      <p:sp>
        <p:nvSpPr>
          <p:cNvPr id="148" name="Google Shape;148;p22"/>
          <p:cNvSpPr txBox="1"/>
          <p:nvPr>
            <p:ph idx="1" type="body"/>
          </p:nvPr>
        </p:nvSpPr>
        <p:spPr>
          <a:xfrm>
            <a:off x="1395888" y="3519825"/>
            <a:ext cx="1151400" cy="453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a:t>Player</a:t>
            </a:r>
            <a:endParaRPr b="1"/>
          </a:p>
        </p:txBody>
      </p:sp>
      <p:sp>
        <p:nvSpPr>
          <p:cNvPr id="149" name="Google Shape;149;p22"/>
          <p:cNvSpPr txBox="1"/>
          <p:nvPr>
            <p:ph idx="1" type="body"/>
          </p:nvPr>
        </p:nvSpPr>
        <p:spPr>
          <a:xfrm>
            <a:off x="6596713" y="3519825"/>
            <a:ext cx="1151400" cy="453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a:t>Enemy</a:t>
            </a:r>
            <a:endParaRPr b="1"/>
          </a:p>
        </p:txBody>
      </p:sp>
      <p:sp>
        <p:nvSpPr>
          <p:cNvPr id="150" name="Google Shape;150;p22"/>
          <p:cNvSpPr txBox="1"/>
          <p:nvPr/>
        </p:nvSpPr>
        <p:spPr>
          <a:xfrm>
            <a:off x="3790050" y="1510750"/>
            <a:ext cx="1563900" cy="4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Moveable</a:t>
            </a:r>
            <a:endParaRPr b="1" sz="1800"/>
          </a:p>
        </p:txBody>
      </p:sp>
      <p:cxnSp>
        <p:nvCxnSpPr>
          <p:cNvPr id="151" name="Google Shape;151;p22"/>
          <p:cNvCxnSpPr>
            <a:stCxn id="150" idx="2"/>
            <a:endCxn id="148" idx="0"/>
          </p:cNvCxnSpPr>
          <p:nvPr/>
        </p:nvCxnSpPr>
        <p:spPr>
          <a:xfrm flipH="1">
            <a:off x="1971600" y="1964050"/>
            <a:ext cx="2600400" cy="155580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22"/>
          <p:cNvCxnSpPr>
            <a:stCxn id="150" idx="2"/>
            <a:endCxn id="149" idx="0"/>
          </p:cNvCxnSpPr>
          <p:nvPr/>
        </p:nvCxnSpPr>
        <p:spPr>
          <a:xfrm>
            <a:off x="4572000" y="1964050"/>
            <a:ext cx="2600400" cy="1555800"/>
          </a:xfrm>
          <a:prstGeom prst="straightConnector1">
            <a:avLst/>
          </a:prstGeom>
          <a:noFill/>
          <a:ln cap="flat" cmpd="sng" w="9525">
            <a:solidFill>
              <a:schemeClr val="dk2"/>
            </a:solidFill>
            <a:prstDash val="solid"/>
            <a:round/>
            <a:headEnd len="med" w="med" type="none"/>
            <a:tailEnd len="med" w="med" type="triangle"/>
          </a:ln>
        </p:spPr>
      </p:cxnSp>
      <p:sp>
        <p:nvSpPr>
          <p:cNvPr id="153" name="Google Shape;153;p22"/>
          <p:cNvSpPr txBox="1"/>
          <p:nvPr/>
        </p:nvSpPr>
        <p:spPr>
          <a:xfrm>
            <a:off x="3507175" y="2824275"/>
            <a:ext cx="2129700" cy="161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Both our character player and enemy use the moveable interface.</a:t>
            </a:r>
            <a:endParaRPr/>
          </a:p>
          <a:p>
            <a:pPr indent="0" lvl="0" marL="0" rtl="0" algn="ctr">
              <a:spcBef>
                <a:spcPts val="0"/>
              </a:spcBef>
              <a:spcAft>
                <a:spcPts val="0"/>
              </a:spcAft>
              <a:buNone/>
            </a:pPr>
            <a:r>
              <a:rPr lang="en"/>
              <a:t>From this they gather variables and methods such as Health values and coordinates.</a:t>
            </a:r>
            <a:endParaRPr/>
          </a:p>
        </p:txBody>
      </p:sp>
      <p:pic>
        <p:nvPicPr>
          <p:cNvPr descr="sheik.png" id="154" name="Google Shape;154;p22"/>
          <p:cNvPicPr preferRelativeResize="0"/>
          <p:nvPr/>
        </p:nvPicPr>
        <p:blipFill>
          <a:blip r:embed="rId3">
            <a:alphaModFix/>
          </a:blip>
          <a:stretch>
            <a:fillRect/>
          </a:stretch>
        </p:blipFill>
        <p:spPr>
          <a:xfrm>
            <a:off x="6739125" y="2214675"/>
            <a:ext cx="609600" cy="609600"/>
          </a:xfrm>
          <a:prstGeom prst="rect">
            <a:avLst/>
          </a:prstGeom>
          <a:noFill/>
          <a:ln>
            <a:noFill/>
          </a:ln>
        </p:spPr>
      </p:pic>
      <p:pic>
        <p:nvPicPr>
          <p:cNvPr descr="villager.png" id="155" name="Google Shape;155;p22"/>
          <p:cNvPicPr preferRelativeResize="0"/>
          <p:nvPr/>
        </p:nvPicPr>
        <p:blipFill>
          <a:blip r:embed="rId4">
            <a:alphaModFix/>
          </a:blip>
          <a:stretch>
            <a:fillRect/>
          </a:stretch>
        </p:blipFill>
        <p:spPr>
          <a:xfrm>
            <a:off x="1481550" y="2266950"/>
            <a:ext cx="609600" cy="609600"/>
          </a:xfrm>
          <a:prstGeom prst="rect">
            <a:avLst/>
          </a:prstGeom>
          <a:noFill/>
          <a:ln>
            <a:noFill/>
          </a:ln>
        </p:spPr>
      </p:pic>
      <p:sp>
        <p:nvSpPr>
          <p:cNvPr id="156" name="Google Shape;156;p22"/>
          <p:cNvSpPr txBox="1"/>
          <p:nvPr/>
        </p:nvSpPr>
        <p:spPr>
          <a:xfrm>
            <a:off x="6977450" y="132200"/>
            <a:ext cx="2025000" cy="2205600"/>
          </a:xfrm>
          <a:prstGeom prst="rect">
            <a:avLst/>
          </a:prstGeom>
          <a:no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Variables</a:t>
            </a:r>
            <a:endParaRPr sz="900">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hitPoints</a:t>
            </a:r>
            <a:endParaRPr sz="900">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attack</a:t>
            </a:r>
            <a:endParaRPr sz="900">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physDefense</a:t>
            </a:r>
            <a:endParaRPr sz="900">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magDefense</a:t>
            </a:r>
            <a:endParaRPr sz="900">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agility</a:t>
            </a:r>
            <a:endParaRPr sz="900">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name</a:t>
            </a:r>
            <a:endParaRPr sz="900">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class</a:t>
            </a:r>
            <a:endParaRPr sz="900">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weaponMelee</a:t>
            </a:r>
            <a:endParaRPr sz="900">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weaponRanged</a:t>
            </a:r>
            <a:endParaRPr sz="900">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spriteName</a:t>
            </a:r>
            <a:endParaRPr sz="900">
              <a:solidFill>
                <a:schemeClr val="dk1"/>
              </a:solidFill>
              <a:highlight>
                <a:srgbClr val="EBEBEB"/>
              </a:highlight>
            </a:endParaRPr>
          </a:p>
          <a:p>
            <a:pPr indent="0" lvl="0" marL="0" rtl="0" algn="ctr">
              <a:lnSpc>
                <a:spcPct val="120000"/>
              </a:lnSpc>
              <a:spcBef>
                <a:spcPts val="0"/>
              </a:spcBef>
              <a:spcAft>
                <a:spcPts val="0"/>
              </a:spcAft>
              <a:buClr>
                <a:schemeClr val="dk1"/>
              </a:buClr>
              <a:buSzPts val="1100"/>
              <a:buFont typeface="Arial"/>
              <a:buNone/>
            </a:pPr>
            <a:r>
              <a:rPr lang="en" sz="900">
                <a:solidFill>
                  <a:schemeClr val="dk1"/>
                </a:solidFill>
                <a:highlight>
                  <a:srgbClr val="EBEBEB"/>
                </a:highlight>
              </a:rPr>
              <a:t>canMove</a:t>
            </a:r>
            <a:endParaRPr sz="900">
              <a:solidFill>
                <a:schemeClr val="dk1"/>
              </a:solidFill>
              <a:highlight>
                <a:srgbClr val="EBEBEB"/>
              </a:highlight>
            </a:endParaRPr>
          </a:p>
          <a:p>
            <a:pPr indent="0" lvl="0" marL="0" rtl="0" algn="l">
              <a:lnSpc>
                <a:spcPct val="115000"/>
              </a:lnSpc>
              <a:spcBef>
                <a:spcPts val="0"/>
              </a:spcBef>
              <a:spcAft>
                <a:spcPts val="0"/>
              </a:spcAft>
              <a:buClr>
                <a:schemeClr val="dk1"/>
              </a:buClr>
              <a:buSzPts val="1100"/>
              <a:buFont typeface="Arial"/>
              <a:buNone/>
            </a:pPr>
            <a:r>
              <a:t/>
            </a:r>
            <a:endParaRPr sz="900">
              <a:solidFill>
                <a:schemeClr val="dk1"/>
              </a:solidFill>
              <a:highlight>
                <a:srgbClr val="EBEBEB"/>
              </a:highlight>
            </a:endParaRPr>
          </a:p>
          <a:p>
            <a:pPr indent="0" lvl="0" marL="0" rtl="0" algn="l">
              <a:spcBef>
                <a:spcPts val="0"/>
              </a:spcBef>
              <a:spcAft>
                <a:spcPts val="0"/>
              </a:spcAft>
              <a:buNone/>
            </a:pPr>
            <a:r>
              <a:t/>
            </a:r>
            <a:endParaRPr sz="900"/>
          </a:p>
        </p:txBody>
      </p:sp>
      <p:sp>
        <p:nvSpPr>
          <p:cNvPr id="157" name="Google Shape;157;p22"/>
          <p:cNvSpPr txBox="1"/>
          <p:nvPr/>
        </p:nvSpPr>
        <p:spPr>
          <a:xfrm>
            <a:off x="5437250" y="1168475"/>
            <a:ext cx="16734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Some variables planned from UML</a:t>
            </a:r>
            <a:endParaRPr/>
          </a:p>
        </p:txBody>
      </p:sp>
      <p:cxnSp>
        <p:nvCxnSpPr>
          <p:cNvPr id="158" name="Google Shape;158;p22"/>
          <p:cNvCxnSpPr>
            <a:stCxn id="157" idx="3"/>
          </p:cNvCxnSpPr>
          <p:nvPr/>
        </p:nvCxnSpPr>
        <p:spPr>
          <a:xfrm flipH="1" rot="10800000">
            <a:off x="7110650" y="1330175"/>
            <a:ext cx="366000" cy="143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Battle </a:t>
            </a:r>
            <a:endParaRPr/>
          </a:p>
        </p:txBody>
      </p:sp>
      <p:sp>
        <p:nvSpPr>
          <p:cNvPr id="164" name="Google Shape;164;p23"/>
          <p:cNvSpPr txBox="1"/>
          <p:nvPr>
            <p:ph idx="1" type="body"/>
          </p:nvPr>
        </p:nvSpPr>
        <p:spPr>
          <a:xfrm>
            <a:off x="3813075" y="3260175"/>
            <a:ext cx="4707600" cy="86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Our battle class consist of where all our calculations take place.</a:t>
            </a:r>
            <a:endParaRPr/>
          </a:p>
        </p:txBody>
      </p:sp>
      <p:pic>
        <p:nvPicPr>
          <p:cNvPr descr="Our_Mascot__the_Fighting_Calculator_400x400.png" id="165" name="Google Shape;165;p23"/>
          <p:cNvPicPr preferRelativeResize="0"/>
          <p:nvPr/>
        </p:nvPicPr>
        <p:blipFill>
          <a:blip r:embed="rId3">
            <a:alphaModFix/>
          </a:blip>
          <a:stretch>
            <a:fillRect/>
          </a:stretch>
        </p:blipFill>
        <p:spPr>
          <a:xfrm>
            <a:off x="400375" y="1356475"/>
            <a:ext cx="2768900" cy="2768900"/>
          </a:xfrm>
          <a:prstGeom prst="rect">
            <a:avLst/>
          </a:prstGeom>
          <a:noFill/>
          <a:ln>
            <a:noFill/>
          </a:ln>
        </p:spPr>
      </p:pic>
      <p:sp>
        <p:nvSpPr>
          <p:cNvPr id="166" name="Google Shape;166;p23"/>
          <p:cNvSpPr txBox="1"/>
          <p:nvPr/>
        </p:nvSpPr>
        <p:spPr>
          <a:xfrm>
            <a:off x="3704175" y="2675525"/>
            <a:ext cx="1412400" cy="13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3"/>
          <p:cNvSpPr txBox="1"/>
          <p:nvPr/>
        </p:nvSpPr>
        <p:spPr>
          <a:xfrm>
            <a:off x="3813075" y="1348638"/>
            <a:ext cx="4542000" cy="16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t>calcDamage(Movable a, Movable d){</a:t>
            </a:r>
            <a:endParaRPr sz="1000"/>
          </a:p>
          <a:p>
            <a:pPr indent="0" lvl="0" marL="0" rtl="0" algn="l">
              <a:spcBef>
                <a:spcPts val="0"/>
              </a:spcBef>
              <a:spcAft>
                <a:spcPts val="0"/>
              </a:spcAft>
              <a:buClr>
                <a:schemeClr val="dk1"/>
              </a:buClr>
              <a:buSzPts val="1100"/>
              <a:buFont typeface="Arial"/>
              <a:buNone/>
            </a:pPr>
            <a:r>
              <a:rPr lang="en" sz="1000"/>
              <a:t>    	return a.getAttack() - (int)((double)(d.getDefense()) * 0.75);</a:t>
            </a:r>
            <a:endParaRPr sz="1000"/>
          </a:p>
          <a:p>
            <a:pPr indent="0" lvl="0" marL="0" rtl="0" algn="l">
              <a:spcBef>
                <a:spcPts val="0"/>
              </a:spcBef>
              <a:spcAft>
                <a:spcPts val="0"/>
              </a:spcAft>
              <a:buClr>
                <a:schemeClr val="dk1"/>
              </a:buClr>
              <a:buSzPts val="1100"/>
              <a:buFont typeface="Arial"/>
              <a:buNone/>
            </a:pPr>
            <a:r>
              <a:rPr lang="en" sz="1000"/>
              <a:t>    }</a:t>
            </a:r>
            <a:endParaRPr sz="1000"/>
          </a:p>
          <a:p>
            <a:pPr indent="0" lvl="0" marL="0" rtl="0" algn="l">
              <a:spcBef>
                <a:spcPts val="0"/>
              </a:spcBef>
              <a:spcAft>
                <a:spcPts val="0"/>
              </a:spcAft>
              <a:buNone/>
            </a:pPr>
            <a:r>
              <a:rPr lang="en" sz="1000"/>
              <a:t>    </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rPr lang="en" sz="1000"/>
              <a:t>    private int calcDamageCrit(Movable a, Movable d){</a:t>
            </a:r>
            <a:endParaRPr sz="1000"/>
          </a:p>
          <a:p>
            <a:pPr indent="0" lvl="0" marL="0" rtl="0" algn="l">
              <a:spcBef>
                <a:spcPts val="0"/>
              </a:spcBef>
              <a:spcAft>
                <a:spcPts val="0"/>
              </a:spcAft>
              <a:buClr>
                <a:schemeClr val="dk1"/>
              </a:buClr>
              <a:buSzPts val="1100"/>
              <a:buFont typeface="Arial"/>
              <a:buNone/>
            </a:pPr>
            <a:r>
              <a:rPr lang="en" sz="1000"/>
              <a:t>    	return (a.getAttack() - (int)((double)(d.getDefense()) * 0.75)) * 2;</a:t>
            </a:r>
            <a:endParaRPr sz="1000"/>
          </a:p>
          <a:p>
            <a:pPr indent="0" lvl="0" marL="0" rtl="0" algn="l">
              <a:spcBef>
                <a:spcPts val="0"/>
              </a:spcBef>
              <a:spcAft>
                <a:spcPts val="0"/>
              </a:spcAft>
              <a:buClr>
                <a:schemeClr val="dk1"/>
              </a:buClr>
              <a:buSzPts val="1100"/>
              <a:buFont typeface="Arial"/>
              <a:buNone/>
            </a:pPr>
            <a:r>
              <a:rPr lang="en" sz="1000"/>
              <a:t>    }</a:t>
            </a:r>
            <a:endParaRPr sz="1000"/>
          </a:p>
          <a:p>
            <a:pPr indent="0" lvl="0" marL="0" rtl="0" algn="l">
              <a:spcBef>
                <a:spcPts val="0"/>
              </a:spcBef>
              <a:spcAft>
                <a:spcPts val="0"/>
              </a:spcAft>
              <a:buNone/>
            </a:pPr>
            <a:r>
              <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311700" y="1978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Summary</a:t>
            </a:r>
            <a:endParaRPr/>
          </a:p>
        </p:txBody>
      </p:sp>
      <p:sp>
        <p:nvSpPr>
          <p:cNvPr id="173" name="Google Shape;173;p24"/>
          <p:cNvSpPr txBox="1"/>
          <p:nvPr>
            <p:ph idx="1" type="body"/>
          </p:nvPr>
        </p:nvSpPr>
        <p:spPr>
          <a:xfrm>
            <a:off x="311700" y="770575"/>
            <a:ext cx="8520600" cy="433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Difficulty - Moderate</a:t>
            </a:r>
            <a:endParaRPr sz="1400"/>
          </a:p>
          <a:p>
            <a:pPr indent="0" lvl="0" marL="0" rtl="0" algn="l">
              <a:spcBef>
                <a:spcPts val="0"/>
              </a:spcBef>
              <a:spcAft>
                <a:spcPts val="0"/>
              </a:spcAft>
              <a:buNone/>
            </a:pPr>
            <a:r>
              <a:rPr lang="en" sz="1400"/>
              <a:t>	The program was not hard grasping the concepts necessarily hard to create, but when it came to looking at the cohesion and putting the puzzle together. There are modifications we needed to make sure the pieces fit.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Fun - Somewhat Fun</a:t>
            </a:r>
            <a:endParaRPr sz="1400"/>
          </a:p>
          <a:p>
            <a:pPr indent="0" lvl="0" marL="0" rtl="0" algn="l">
              <a:spcBef>
                <a:spcPts val="0"/>
              </a:spcBef>
              <a:spcAft>
                <a:spcPts val="0"/>
              </a:spcAft>
              <a:buNone/>
            </a:pPr>
            <a:r>
              <a:rPr lang="en" sz="1400"/>
              <a:t>	Since our program required a lot of similar items, lots of the code required tedious typing that really bore both of us. Aside from that, the programing and looking at are creation was a fun task.</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Evaluation - Happy</a:t>
            </a:r>
            <a:endParaRPr sz="1400"/>
          </a:p>
          <a:p>
            <a:pPr indent="0" lvl="0" marL="0" rtl="0" algn="l">
              <a:spcBef>
                <a:spcPts val="0"/>
              </a:spcBef>
              <a:spcAft>
                <a:spcPts val="0"/>
              </a:spcAft>
              <a:buNone/>
            </a:pPr>
            <a:r>
              <a:rPr lang="en" sz="1400"/>
              <a:t>	Although the final product is missing a few features that we would have liked but are not implemented due to unforeseen problems. Our product is good for what we had the capablities to do.</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TPIL (This program I learned) - A lot.</a:t>
            </a:r>
            <a:endParaRPr sz="1400"/>
          </a:p>
          <a:p>
            <a:pPr indent="0" lvl="0" marL="0" rtl="0" algn="l">
              <a:spcBef>
                <a:spcPts val="0"/>
              </a:spcBef>
              <a:spcAft>
                <a:spcPts val="0"/>
              </a:spcAft>
              <a:buNone/>
            </a:pPr>
            <a:r>
              <a:rPr lang="en" sz="1400"/>
              <a:t>	Theory crafting is a skill that is harder than expected. Pre- planning is key to making sure that your program turns out well, but you also must be adaptable in order to deal with any obstacle that may appear.</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5"/>
          <p:cNvSpPr txBox="1"/>
          <p:nvPr>
            <p:ph idx="1" type="body"/>
          </p:nvPr>
        </p:nvSpPr>
        <p:spPr>
          <a:xfrm>
            <a:off x="254650" y="1951100"/>
            <a:ext cx="8520600" cy="1109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4800"/>
              <a:t>Questions?</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